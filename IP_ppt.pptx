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nton" charset="1" panose="00000500000000000000"/>
      <p:regular r:id="rId29"/>
    </p:embeddedFont>
    <p:embeddedFont>
      <p:font typeface="Montserrat Bold" charset="1" panose="00000800000000000000"/>
      <p:regular r:id="rId30"/>
    </p:embeddedFont>
    <p:embeddedFont>
      <p:font typeface="Montserrat Italics" charset="1" panose="00000500000000000000"/>
      <p:regular r:id="rId31"/>
    </p:embeddedFont>
    <p:embeddedFont>
      <p:font typeface="Montserrat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6306629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131161"/>
            <a:ext cx="18288000" cy="408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3"/>
              </a:lnSpc>
            </a:pPr>
            <a:r>
              <a:rPr lang="en-US" sz="8013" spc="12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SCIENTIFIC LITERATURE COLLECTION</a:t>
            </a:r>
          </a:p>
          <a:p>
            <a:pPr algn="ctr">
              <a:lnSpc>
                <a:spcPts val="8013"/>
              </a:lnSpc>
            </a:pPr>
            <a:r>
              <a:rPr lang="en-US" sz="8013" spc="12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&amp; </a:t>
            </a:r>
          </a:p>
          <a:p>
            <a:pPr algn="ctr">
              <a:lnSpc>
                <a:spcPts val="8013"/>
              </a:lnSpc>
            </a:pPr>
            <a:r>
              <a:rPr lang="en-US" sz="8013" spc="12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FILTERING</a:t>
            </a:r>
          </a:p>
          <a:p>
            <a:pPr algn="ctr">
              <a:lnSpc>
                <a:spcPts val="801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21810" y="8628204"/>
            <a:ext cx="5846941" cy="9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628" spc="-131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SHIVANSHU KUMAR SINGH</a:t>
            </a:r>
          </a:p>
          <a:p>
            <a:pPr algn="l">
              <a:lnSpc>
                <a:spcPts val="3679"/>
              </a:lnSpc>
              <a:spcBef>
                <a:spcPct val="0"/>
              </a:spcBef>
            </a:pPr>
            <a:r>
              <a:rPr lang="en-US" b="true" sz="2628" spc="-13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AYUSH BATHRA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8904" y="6268529"/>
            <a:ext cx="3867235" cy="83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8" i="true" spc="-121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HUMAN MICROBIOME RESEARCH PAPERS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52525"/>
            <a:ext cx="8379733" cy="91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40"/>
              </a:lnSpc>
            </a:pPr>
            <a:r>
              <a:rPr lang="en-US" sz="6840" spc="-95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PROBLEM WE ARE SOLVING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2171"/>
            <a:ext cx="16230600" cy="597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Biomedic</a:t>
            </a: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al research publishes 3,000+ microbiome papers per month across dozens of databases.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</a:p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b="true" sz="2419" spc="-120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Challenges:</a:t>
            </a:r>
          </a:p>
          <a:p>
            <a:pPr algn="l" marL="522333" indent="-261166" lvl="1">
              <a:lnSpc>
                <a:spcPts val="3387"/>
              </a:lnSpc>
              <a:buFont typeface="Arial"/>
              <a:buChar char="•"/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No single database has complete coverage of all relevant literature</a:t>
            </a:r>
          </a:p>
          <a:p>
            <a:pPr algn="l" marL="522333" indent="-261166" lvl="1">
              <a:lnSpc>
                <a:spcPts val="3387"/>
              </a:lnSpc>
              <a:buFont typeface="Arial"/>
              <a:buChar char="•"/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Papers are scattered across PubMed, Europe PMC, OpenAlex, Crossref, Semantic Scholar, CORE</a:t>
            </a:r>
          </a:p>
          <a:p>
            <a:pPr algn="l" marL="522333" indent="-261166" lvl="1">
              <a:lnSpc>
                <a:spcPts val="3387"/>
              </a:lnSpc>
              <a:buFont typeface="Arial"/>
              <a:buChar char="•"/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Many papers mention 'microbiome' but study animals, soil, or food — not human health</a:t>
            </a:r>
          </a:p>
          <a:p>
            <a:pPr algn="l" marL="522333" indent="-261166" lvl="1">
              <a:lnSpc>
                <a:spcPts val="3387"/>
              </a:lnSpc>
              <a:buFont typeface="Arial"/>
              <a:buChar char="•"/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Manual curation cannot scale to 100,000+ papers spanning 2024-2026</a:t>
            </a:r>
          </a:p>
          <a:p>
            <a:pPr algn="l" marL="522333" indent="-261166" lvl="1">
              <a:lnSpc>
                <a:spcPts val="3387"/>
              </a:lnSpc>
              <a:buFont typeface="Arial"/>
              <a:buChar char="•"/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Duplicate papers appear across sources under different identifiers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</a:p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b="true" sz="2419" spc="-120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Goal: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Build an automated pipeline that collects, deduplicates, and precisely filters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research papers to extract ONLY those studying the human microbiome with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  <a:r>
              <a:rPr lang="en-US" sz="2419" spc="-12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sequencing data — feeding a Knowledge Graph for clinical research insights.</a:t>
            </a:r>
          </a:p>
          <a:p>
            <a:pPr algn="just">
              <a:lnSpc>
                <a:spcPts val="338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2238" y="1735968"/>
            <a:ext cx="8379733" cy="91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40"/>
              </a:lnSpc>
            </a:pPr>
            <a:r>
              <a:rPr lang="en-US" sz="6840" spc="-95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LAYER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17577"/>
            <a:ext cx="15095858" cy="417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5"/>
              </a:lnSpc>
              <a:spcBef>
                <a:spcPct val="0"/>
              </a:spcBef>
            </a:pP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ayer 1 is the first stage of a four-layer scientific literature pipeline.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</a:p>
          <a:p>
            <a:pPr algn="just">
              <a:lnSpc>
                <a:spcPts val="4165"/>
              </a:lnSpc>
              <a:spcBef>
                <a:spcPct val="0"/>
              </a:spcBef>
            </a:pPr>
            <a:r>
              <a:rPr lang="en-US" b="true" sz="2975" spc="-14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Its job: </a:t>
            </a: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Collect papers from 6 academic APIs, deduplicate them, filter for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relevance using 5 progressive stages, and output a clean dataset for Layer 2 (NLP).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</a:p>
          <a:p>
            <a:pPr algn="just">
              <a:lnSpc>
                <a:spcPts val="4165"/>
              </a:lnSpc>
              <a:spcBef>
                <a:spcPct val="0"/>
              </a:spcBef>
            </a:pPr>
            <a:r>
              <a:rPr lang="en-US" b="true" sz="2975" spc="-14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Input:</a:t>
            </a: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Search query 'human microbiome' across 6 databases (2024-2026)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  <a:r>
              <a:rPr lang="en-US" b="true" sz="2975" spc="-14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  <a:r>
              <a:rPr lang="en-US" sz="2975" spc="-14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data/processed/collected_YYYYMMDD_HHMMSS.json (List[PaperRecord])</a:t>
            </a:r>
          </a:p>
          <a:p>
            <a:pPr algn="just">
              <a:lnSpc>
                <a:spcPts val="416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3106233" y="2477259"/>
            <a:ext cx="0" cy="2130150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130567" y="2477299"/>
            <a:ext cx="27290" cy="2130110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7154901" y="2462541"/>
            <a:ext cx="19050" cy="2144868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9256634" y="2462541"/>
            <a:ext cx="9525" cy="2144868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285209" y="2785962"/>
            <a:ext cx="195765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 Classifier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294734" y="3450756"/>
            <a:ext cx="2024334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ogistic Regression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F1=0.906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 flipV="true">
            <a:off x="11280968" y="2477301"/>
            <a:ext cx="9525" cy="2144868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280968" y="2785962"/>
            <a:ext cx="208148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3.5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Embedding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357168" y="3571140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osine sim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10,975 vectors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 flipV="true">
            <a:off x="13325605" y="2477259"/>
            <a:ext cx="9525" cy="2144868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354180" y="2785962"/>
            <a:ext cx="170981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4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196918" y="3617443"/>
            <a:ext cx="20243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emma3:4b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5159239" y="2491895"/>
            <a:ext cx="27290" cy="2130110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14475" y="569394"/>
            <a:ext cx="10624089" cy="107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40"/>
              </a:lnSpc>
            </a:pPr>
            <a:r>
              <a:rPr lang="en-US" sz="804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PIPELINE OVERVIEW: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4475" y="1474741"/>
            <a:ext cx="10624089" cy="80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6000" spc="-84">
                <a:solidFill>
                  <a:srgbClr val="FFF8D4">
                    <a:alpha val="70980"/>
                  </a:srgbClr>
                </a:solidFill>
                <a:latin typeface="Anton"/>
                <a:ea typeface="Anton"/>
                <a:cs typeface="Anton"/>
                <a:sym typeface="Anton"/>
              </a:rPr>
              <a:t>HOW PAPERS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427" y="2785962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 API</a:t>
            </a:r>
          </a:p>
          <a:p>
            <a:pPr algn="ctr">
              <a:lnSpc>
                <a:spcPts val="2659"/>
              </a:lnSpc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Collectors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128761" y="2785962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tage 1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MeSH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181670" y="2785962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tage 2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Keywords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154901" y="2785962"/>
            <a:ext cx="2063633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tagenomics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Gate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04427" y="3617443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Parallel fe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tch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from 6 sources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106233" y="3617443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PubM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ed papers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130567" y="3737828"/>
            <a:ext cx="202433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Weighted 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rules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183476" y="3571140"/>
            <a:ext cx="202433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Sequ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encing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terms check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5335552" y="2785962"/>
            <a:ext cx="170981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edupication &amp;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-9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159239" y="3784131"/>
            <a:ext cx="202433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DOI→PMID→Titl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73532" y="4735996"/>
            <a:ext cx="1594093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109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1,500 raw  →  1,450 after dedup  →  1,027 kept (70%)  |  394 rejected  |  29 flagg</a:t>
            </a:r>
            <a:r>
              <a:rPr lang="en-US" b="true" sz="2199" spc="-109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ed for review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04427" y="5269396"/>
            <a:ext cx="11710934" cy="468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6"/>
              </a:lnSpc>
              <a:spcBef>
                <a:spcPct val="0"/>
              </a:spcBef>
            </a:pPr>
            <a:r>
              <a:rPr lang="en-US" b="true" sz="2911" spc="-14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decisions are made: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1 (MeSH)                         </a:t>
            </a:r>
            <a:r>
              <a:rPr lang="en-US" sz="2397" spc="-119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267 kept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</a:t>
            </a:r>
            <a:r>
              <a:rPr lang="en-US" sz="2397" spc="-119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0 rejected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2 (Keywords)                </a:t>
            </a:r>
            <a:r>
              <a:rPr lang="en-US" sz="2397" spc="-119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726 kept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</a:t>
            </a:r>
            <a:r>
              <a:rPr lang="en-US" sz="2397" spc="-119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332 rejected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3 borderline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Metagenomics Gate                                                                                            15 flagged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3 (ML)                              </a:t>
            </a:r>
            <a:r>
              <a:rPr lang="en-US" sz="2397" spc="-119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6 kept 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</a:t>
            </a:r>
            <a:r>
              <a:rPr lang="en-US" sz="2397" spc="-119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41 rejected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4 (LLM)                           </a:t>
            </a:r>
            <a:r>
              <a:rPr lang="en-US" sz="2397" spc="-119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28 kept 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</a:t>
            </a:r>
            <a:r>
              <a:rPr lang="en-US" sz="2397" spc="-119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    21 rejected </a:t>
            </a:r>
            <a:r>
              <a:rPr lang="en-US" sz="2397" spc="-11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11 review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4177742" y="6042313"/>
            <a:ext cx="0" cy="3992946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6501741" y="6042435"/>
            <a:ext cx="0" cy="3912505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9218534" y="6042435"/>
            <a:ext cx="2921" cy="3875796"/>
          </a:xfrm>
          <a:prstGeom prst="line">
            <a:avLst/>
          </a:prstGeom>
          <a:ln cap="flat" w="19050">
            <a:solidFill>
              <a:srgbClr val="FFF8D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365047" y="2039555"/>
          <a:ext cx="13557907" cy="5372100"/>
        </p:xfrm>
        <a:graphic>
          <a:graphicData uri="http://schemas.openxmlformats.org/drawingml/2006/table">
            <a:tbl>
              <a:tblPr/>
              <a:tblGrid>
                <a:gridCol w="3389477"/>
                <a:gridCol w="3389477"/>
                <a:gridCol w="3389477"/>
                <a:gridCol w="3389477"/>
              </a:tblGrid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Unique Strength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Rate Limit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PubMed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NCBI E-utilities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MeSH terms, Humans filter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0.4s (10 req/s with key)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Europe PMC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 JSON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 text, preprints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0.5s (2 req/s)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Semantic Scholar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Bulk search endpoint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Citation counts, AI tags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1.0s (1 req/s)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OpenAlex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Works API + concepts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250M+ works, funding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0.1s (10 req/s polite)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Crossref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Works endpoint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 authority, funders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0.02s (50 req/s polite)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4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 search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Open-access full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174760"/>
            <a:ext cx="825363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99" spc="-9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ach source covers unique strengths — together they maximize recall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2617"/>
            <a:ext cx="7085335" cy="59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5"/>
              </a:lnSpc>
              <a:spcBef>
                <a:spcPct val="0"/>
              </a:spcBef>
            </a:pPr>
            <a:r>
              <a:rPr lang="en-US" b="true" sz="3532" spc="-17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3532" spc="-17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 C</a:t>
            </a:r>
            <a:r>
              <a:rPr lang="en-US" b="true" sz="3532" spc="-17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ollection: 6 Academic APIs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54530"/>
            <a:ext cx="10900842" cy="23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-12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</a:t>
            </a:r>
            <a:r>
              <a:rPr lang="en-US" b="true" sz="2499" spc="-12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 Rate Limits?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Academic APIs block IPs that exceed their request quotas.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PubMed: 3 req/s without key, 10 req/s with NCBI API key (free registration).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OpenAlex/Crossref: 'Polite pool' — unlimited rate if you include email in User-Agent.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Semantic Scholar: Strict 1 req/s — violators get 429 errors and temporary bans.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Our rate limiter enforces a minimum gap between requests per source.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077" y="2425305"/>
            <a:ext cx="7740496" cy="2757628"/>
            <a:chOff x="0" y="0"/>
            <a:chExt cx="2013197" cy="717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3197" cy="717221"/>
            </a:xfrm>
            <a:custGeom>
              <a:avLst/>
              <a:gdLst/>
              <a:ahLst/>
              <a:cxnLst/>
              <a:rect r="r" b="b" t="t" l="l"/>
              <a:pathLst>
                <a:path h="717221" w="2013197">
                  <a:moveTo>
                    <a:pt x="51009" y="0"/>
                  </a:moveTo>
                  <a:lnTo>
                    <a:pt x="1962188" y="0"/>
                  </a:lnTo>
                  <a:cubicBezTo>
                    <a:pt x="1975716" y="0"/>
                    <a:pt x="1988690" y="5374"/>
                    <a:pt x="1998257" y="14940"/>
                  </a:cubicBezTo>
                  <a:cubicBezTo>
                    <a:pt x="2007823" y="24506"/>
                    <a:pt x="2013197" y="37481"/>
                    <a:pt x="2013197" y="51009"/>
                  </a:cubicBezTo>
                  <a:lnTo>
                    <a:pt x="2013197" y="666212"/>
                  </a:lnTo>
                  <a:cubicBezTo>
                    <a:pt x="2013197" y="694383"/>
                    <a:pt x="1990359" y="717221"/>
                    <a:pt x="1962188" y="717221"/>
                  </a:cubicBezTo>
                  <a:lnTo>
                    <a:pt x="51009" y="717221"/>
                  </a:lnTo>
                  <a:cubicBezTo>
                    <a:pt x="22838" y="717221"/>
                    <a:pt x="0" y="694383"/>
                    <a:pt x="0" y="666212"/>
                  </a:cubicBezTo>
                  <a:lnTo>
                    <a:pt x="0" y="51009"/>
                  </a:lnTo>
                  <a:cubicBezTo>
                    <a:pt x="0" y="22838"/>
                    <a:pt x="22838" y="0"/>
                    <a:pt x="51009" y="0"/>
                  </a:cubicBezTo>
                  <a:close/>
                </a:path>
              </a:pathLst>
            </a:custGeom>
            <a:solidFill>
              <a:srgbClr val="FFF8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3197" cy="755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34553" y="1996477"/>
            <a:ext cx="5769543" cy="801537"/>
            <a:chOff x="0" y="0"/>
            <a:chExt cx="1500579" cy="208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0579" cy="208469"/>
            </a:xfrm>
            <a:custGeom>
              <a:avLst/>
              <a:gdLst/>
              <a:ahLst/>
              <a:cxnLst/>
              <a:rect r="r" b="b" t="t" l="l"/>
              <a:pathLst>
                <a:path h="208469" w="1500579">
                  <a:moveTo>
                    <a:pt x="68435" y="0"/>
                  </a:moveTo>
                  <a:lnTo>
                    <a:pt x="1432144" y="0"/>
                  </a:lnTo>
                  <a:cubicBezTo>
                    <a:pt x="1469940" y="0"/>
                    <a:pt x="1500579" y="30639"/>
                    <a:pt x="1500579" y="68435"/>
                  </a:cubicBezTo>
                  <a:lnTo>
                    <a:pt x="1500579" y="140034"/>
                  </a:lnTo>
                  <a:cubicBezTo>
                    <a:pt x="1500579" y="158184"/>
                    <a:pt x="1493369" y="175591"/>
                    <a:pt x="1480535" y="188425"/>
                  </a:cubicBezTo>
                  <a:cubicBezTo>
                    <a:pt x="1467701" y="201259"/>
                    <a:pt x="1450294" y="208469"/>
                    <a:pt x="1432144" y="208469"/>
                  </a:cubicBezTo>
                  <a:lnTo>
                    <a:pt x="68435" y="208469"/>
                  </a:lnTo>
                  <a:cubicBezTo>
                    <a:pt x="30639" y="208469"/>
                    <a:pt x="0" y="177830"/>
                    <a:pt x="0" y="140034"/>
                  </a:cubicBezTo>
                  <a:lnTo>
                    <a:pt x="0" y="68435"/>
                  </a:lnTo>
                  <a:cubicBezTo>
                    <a:pt x="0" y="30639"/>
                    <a:pt x="30639" y="0"/>
                    <a:pt x="68435" y="0"/>
                  </a:cubicBezTo>
                  <a:close/>
                </a:path>
              </a:pathLst>
            </a:custGeom>
            <a:solidFill>
              <a:srgbClr val="B8B39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00579" cy="24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1114" y="2425305"/>
            <a:ext cx="7735482" cy="2757628"/>
            <a:chOff x="0" y="0"/>
            <a:chExt cx="2011893" cy="717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893" cy="717221"/>
            </a:xfrm>
            <a:custGeom>
              <a:avLst/>
              <a:gdLst/>
              <a:ahLst/>
              <a:cxnLst/>
              <a:rect r="r" b="b" t="t" l="l"/>
              <a:pathLst>
                <a:path h="717221" w="2011893">
                  <a:moveTo>
                    <a:pt x="51042" y="0"/>
                  </a:moveTo>
                  <a:lnTo>
                    <a:pt x="1960850" y="0"/>
                  </a:lnTo>
                  <a:cubicBezTo>
                    <a:pt x="1974388" y="0"/>
                    <a:pt x="1987370" y="5378"/>
                    <a:pt x="1996943" y="14950"/>
                  </a:cubicBezTo>
                  <a:cubicBezTo>
                    <a:pt x="2006515" y="24522"/>
                    <a:pt x="2011893" y="37505"/>
                    <a:pt x="2011893" y="51042"/>
                  </a:cubicBezTo>
                  <a:lnTo>
                    <a:pt x="2011893" y="666179"/>
                  </a:lnTo>
                  <a:cubicBezTo>
                    <a:pt x="2011893" y="694369"/>
                    <a:pt x="1989040" y="717221"/>
                    <a:pt x="1960850" y="717221"/>
                  </a:cubicBezTo>
                  <a:lnTo>
                    <a:pt x="51042" y="717221"/>
                  </a:lnTo>
                  <a:cubicBezTo>
                    <a:pt x="37505" y="717221"/>
                    <a:pt x="24522" y="711843"/>
                    <a:pt x="14950" y="702271"/>
                  </a:cubicBezTo>
                  <a:cubicBezTo>
                    <a:pt x="5378" y="692699"/>
                    <a:pt x="0" y="679716"/>
                    <a:pt x="0" y="666179"/>
                  </a:cubicBezTo>
                  <a:lnTo>
                    <a:pt x="0" y="51042"/>
                  </a:lnTo>
                  <a:cubicBezTo>
                    <a:pt x="0" y="37505"/>
                    <a:pt x="5378" y="24522"/>
                    <a:pt x="14950" y="14950"/>
                  </a:cubicBezTo>
                  <a:cubicBezTo>
                    <a:pt x="24522" y="5378"/>
                    <a:pt x="37505" y="0"/>
                    <a:pt x="51042" y="0"/>
                  </a:cubicBezTo>
                  <a:close/>
                </a:path>
              </a:pathLst>
            </a:custGeom>
            <a:solidFill>
              <a:srgbClr val="FFF8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1893" cy="755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64084" y="2024536"/>
            <a:ext cx="5769543" cy="801537"/>
            <a:chOff x="0" y="0"/>
            <a:chExt cx="1500579" cy="208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0579" cy="208469"/>
            </a:xfrm>
            <a:custGeom>
              <a:avLst/>
              <a:gdLst/>
              <a:ahLst/>
              <a:cxnLst/>
              <a:rect r="r" b="b" t="t" l="l"/>
              <a:pathLst>
                <a:path h="208469" w="1500579">
                  <a:moveTo>
                    <a:pt x="68435" y="0"/>
                  </a:moveTo>
                  <a:lnTo>
                    <a:pt x="1432144" y="0"/>
                  </a:lnTo>
                  <a:cubicBezTo>
                    <a:pt x="1469940" y="0"/>
                    <a:pt x="1500579" y="30639"/>
                    <a:pt x="1500579" y="68435"/>
                  </a:cubicBezTo>
                  <a:lnTo>
                    <a:pt x="1500579" y="140034"/>
                  </a:lnTo>
                  <a:cubicBezTo>
                    <a:pt x="1500579" y="158184"/>
                    <a:pt x="1493369" y="175591"/>
                    <a:pt x="1480535" y="188425"/>
                  </a:cubicBezTo>
                  <a:cubicBezTo>
                    <a:pt x="1467701" y="201259"/>
                    <a:pt x="1450294" y="208469"/>
                    <a:pt x="1432144" y="208469"/>
                  </a:cubicBezTo>
                  <a:lnTo>
                    <a:pt x="68435" y="208469"/>
                  </a:lnTo>
                  <a:cubicBezTo>
                    <a:pt x="30639" y="208469"/>
                    <a:pt x="0" y="177830"/>
                    <a:pt x="0" y="140034"/>
                  </a:cubicBezTo>
                  <a:lnTo>
                    <a:pt x="0" y="68435"/>
                  </a:lnTo>
                  <a:cubicBezTo>
                    <a:pt x="0" y="30639"/>
                    <a:pt x="30639" y="0"/>
                    <a:pt x="68435" y="0"/>
                  </a:cubicBezTo>
                  <a:close/>
                </a:path>
              </a:pathLst>
            </a:custGeom>
            <a:solidFill>
              <a:srgbClr val="B8B39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00579" cy="24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71404" y="639242"/>
            <a:ext cx="16145193" cy="92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40"/>
              </a:lnSpc>
            </a:pPr>
            <a:r>
              <a:rPr lang="en-US" sz="7040" spc="-98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TECHNICAL DETAILS: RESILIENCE &amp; DEDUPLICATION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5666" y="2166189"/>
            <a:ext cx="5687318" cy="41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</a:t>
            </a: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 Retry on Network Failure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5823" y="2864471"/>
            <a:ext cx="6724358" cy="20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</a:t>
            </a: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tenacity library with exponential backoff: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Attempt 1 fails → wait 2s → Attempt 2 fails → wait 4s → Attempt 3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Max retries: 3 | Backoff base: 2s | Max wait: 30s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429 (rate limited): respects Retry-After header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Connection errors: retries transparently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All failures logged but don't crash the 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64094" y="2194248"/>
            <a:ext cx="5687318" cy="41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</a:t>
            </a: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 Hash Checking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9077" y="6355226"/>
            <a:ext cx="7740496" cy="3470323"/>
            <a:chOff x="0" y="0"/>
            <a:chExt cx="2013197" cy="902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3197" cy="902584"/>
            </a:xfrm>
            <a:custGeom>
              <a:avLst/>
              <a:gdLst/>
              <a:ahLst/>
              <a:cxnLst/>
              <a:rect r="r" b="b" t="t" l="l"/>
              <a:pathLst>
                <a:path h="902584" w="2013197">
                  <a:moveTo>
                    <a:pt x="51009" y="0"/>
                  </a:moveTo>
                  <a:lnTo>
                    <a:pt x="1962188" y="0"/>
                  </a:lnTo>
                  <a:cubicBezTo>
                    <a:pt x="1975716" y="0"/>
                    <a:pt x="1988690" y="5374"/>
                    <a:pt x="1998257" y="14940"/>
                  </a:cubicBezTo>
                  <a:cubicBezTo>
                    <a:pt x="2007823" y="24506"/>
                    <a:pt x="2013197" y="37481"/>
                    <a:pt x="2013197" y="51009"/>
                  </a:cubicBezTo>
                  <a:lnTo>
                    <a:pt x="2013197" y="851574"/>
                  </a:lnTo>
                  <a:cubicBezTo>
                    <a:pt x="2013197" y="879746"/>
                    <a:pt x="1990359" y="902584"/>
                    <a:pt x="1962188" y="902584"/>
                  </a:cubicBezTo>
                  <a:lnTo>
                    <a:pt x="51009" y="902584"/>
                  </a:lnTo>
                  <a:cubicBezTo>
                    <a:pt x="22838" y="902584"/>
                    <a:pt x="0" y="879746"/>
                    <a:pt x="0" y="851574"/>
                  </a:cubicBezTo>
                  <a:lnTo>
                    <a:pt x="0" y="51009"/>
                  </a:lnTo>
                  <a:cubicBezTo>
                    <a:pt x="0" y="22838"/>
                    <a:pt x="22838" y="0"/>
                    <a:pt x="51009" y="0"/>
                  </a:cubicBezTo>
                  <a:close/>
                </a:path>
              </a:pathLst>
            </a:custGeom>
            <a:solidFill>
              <a:srgbClr val="FFF8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13197" cy="94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34553" y="5926398"/>
            <a:ext cx="5769543" cy="801537"/>
            <a:chOff x="0" y="0"/>
            <a:chExt cx="1500579" cy="2084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00579" cy="208469"/>
            </a:xfrm>
            <a:custGeom>
              <a:avLst/>
              <a:gdLst/>
              <a:ahLst/>
              <a:cxnLst/>
              <a:rect r="r" b="b" t="t" l="l"/>
              <a:pathLst>
                <a:path h="208469" w="1500579">
                  <a:moveTo>
                    <a:pt x="68435" y="0"/>
                  </a:moveTo>
                  <a:lnTo>
                    <a:pt x="1432144" y="0"/>
                  </a:lnTo>
                  <a:cubicBezTo>
                    <a:pt x="1469940" y="0"/>
                    <a:pt x="1500579" y="30639"/>
                    <a:pt x="1500579" y="68435"/>
                  </a:cubicBezTo>
                  <a:lnTo>
                    <a:pt x="1500579" y="140034"/>
                  </a:lnTo>
                  <a:cubicBezTo>
                    <a:pt x="1500579" y="158184"/>
                    <a:pt x="1493369" y="175591"/>
                    <a:pt x="1480535" y="188425"/>
                  </a:cubicBezTo>
                  <a:cubicBezTo>
                    <a:pt x="1467701" y="201259"/>
                    <a:pt x="1450294" y="208469"/>
                    <a:pt x="1432144" y="208469"/>
                  </a:cubicBezTo>
                  <a:lnTo>
                    <a:pt x="68435" y="208469"/>
                  </a:lnTo>
                  <a:cubicBezTo>
                    <a:pt x="30639" y="208469"/>
                    <a:pt x="0" y="177830"/>
                    <a:pt x="0" y="140034"/>
                  </a:cubicBezTo>
                  <a:lnTo>
                    <a:pt x="0" y="68435"/>
                  </a:lnTo>
                  <a:cubicBezTo>
                    <a:pt x="0" y="30639"/>
                    <a:pt x="30639" y="0"/>
                    <a:pt x="68435" y="0"/>
                  </a:cubicBezTo>
                  <a:close/>
                </a:path>
              </a:pathLst>
            </a:custGeom>
            <a:solidFill>
              <a:srgbClr val="B8B39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00579" cy="24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81114" y="6355226"/>
            <a:ext cx="7735482" cy="3470323"/>
            <a:chOff x="0" y="0"/>
            <a:chExt cx="2011893" cy="902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893" cy="902584"/>
            </a:xfrm>
            <a:custGeom>
              <a:avLst/>
              <a:gdLst/>
              <a:ahLst/>
              <a:cxnLst/>
              <a:rect r="r" b="b" t="t" l="l"/>
              <a:pathLst>
                <a:path h="902584" w="2011893">
                  <a:moveTo>
                    <a:pt x="51042" y="0"/>
                  </a:moveTo>
                  <a:lnTo>
                    <a:pt x="1960850" y="0"/>
                  </a:lnTo>
                  <a:cubicBezTo>
                    <a:pt x="1974388" y="0"/>
                    <a:pt x="1987370" y="5378"/>
                    <a:pt x="1996943" y="14950"/>
                  </a:cubicBezTo>
                  <a:cubicBezTo>
                    <a:pt x="2006515" y="24522"/>
                    <a:pt x="2011893" y="37505"/>
                    <a:pt x="2011893" y="51042"/>
                  </a:cubicBezTo>
                  <a:lnTo>
                    <a:pt x="2011893" y="851541"/>
                  </a:lnTo>
                  <a:cubicBezTo>
                    <a:pt x="2011893" y="879731"/>
                    <a:pt x="1989040" y="902584"/>
                    <a:pt x="1960850" y="902584"/>
                  </a:cubicBezTo>
                  <a:lnTo>
                    <a:pt x="51042" y="902584"/>
                  </a:lnTo>
                  <a:cubicBezTo>
                    <a:pt x="22852" y="902584"/>
                    <a:pt x="0" y="879731"/>
                    <a:pt x="0" y="851541"/>
                  </a:cubicBezTo>
                  <a:lnTo>
                    <a:pt x="0" y="51042"/>
                  </a:lnTo>
                  <a:cubicBezTo>
                    <a:pt x="0" y="37505"/>
                    <a:pt x="5378" y="24522"/>
                    <a:pt x="14950" y="14950"/>
                  </a:cubicBezTo>
                  <a:cubicBezTo>
                    <a:pt x="24522" y="5378"/>
                    <a:pt x="37505" y="0"/>
                    <a:pt x="51042" y="0"/>
                  </a:cubicBezTo>
                  <a:close/>
                </a:path>
              </a:pathLst>
            </a:custGeom>
            <a:solidFill>
              <a:srgbClr val="FFF8D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11893" cy="94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64084" y="5954457"/>
            <a:ext cx="5769543" cy="801537"/>
            <a:chOff x="0" y="0"/>
            <a:chExt cx="1500579" cy="2084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00579" cy="208469"/>
            </a:xfrm>
            <a:custGeom>
              <a:avLst/>
              <a:gdLst/>
              <a:ahLst/>
              <a:cxnLst/>
              <a:rect r="r" b="b" t="t" l="l"/>
              <a:pathLst>
                <a:path h="208469" w="1500579">
                  <a:moveTo>
                    <a:pt x="68435" y="0"/>
                  </a:moveTo>
                  <a:lnTo>
                    <a:pt x="1432144" y="0"/>
                  </a:lnTo>
                  <a:cubicBezTo>
                    <a:pt x="1469940" y="0"/>
                    <a:pt x="1500579" y="30639"/>
                    <a:pt x="1500579" y="68435"/>
                  </a:cubicBezTo>
                  <a:lnTo>
                    <a:pt x="1500579" y="140034"/>
                  </a:lnTo>
                  <a:cubicBezTo>
                    <a:pt x="1500579" y="158184"/>
                    <a:pt x="1493369" y="175591"/>
                    <a:pt x="1480535" y="188425"/>
                  </a:cubicBezTo>
                  <a:cubicBezTo>
                    <a:pt x="1467701" y="201259"/>
                    <a:pt x="1450294" y="208469"/>
                    <a:pt x="1432144" y="208469"/>
                  </a:cubicBezTo>
                  <a:lnTo>
                    <a:pt x="68435" y="208469"/>
                  </a:lnTo>
                  <a:cubicBezTo>
                    <a:pt x="30639" y="208469"/>
                    <a:pt x="0" y="177830"/>
                    <a:pt x="0" y="140034"/>
                  </a:cubicBezTo>
                  <a:lnTo>
                    <a:pt x="0" y="68435"/>
                  </a:lnTo>
                  <a:cubicBezTo>
                    <a:pt x="0" y="30639"/>
                    <a:pt x="30639" y="0"/>
                    <a:pt x="68435" y="0"/>
                  </a:cubicBezTo>
                  <a:close/>
                </a:path>
              </a:pathLst>
            </a:custGeom>
            <a:solidFill>
              <a:srgbClr val="B8B3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00579" cy="246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316778" y="6096110"/>
            <a:ext cx="5687318" cy="41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Dedupli</a:t>
            </a:r>
            <a:r>
              <a:rPr lang="en-US" b="true" sz="2431" spc="-12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cation Strategy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03781" y="6140680"/>
            <a:ext cx="6205838" cy="38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b="true" sz="2231" spc="-11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Cursor Persist</a:t>
            </a:r>
            <a:r>
              <a:rPr lang="en-US" b="true" sz="2231" spc="-111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ence (Offset Management)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54217" y="2864471"/>
            <a:ext cx="6724358" cy="20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</a:t>
            </a: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tenacity library with exponential backoff: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Attempt 1 fails → wait 2s → Attempt 2 fails → wait 4s → Attempt 3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Max retries: 3 | Backoff base: 2s | Max wait: 30s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429 (rate limited): respects Retry-After header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Connection errors: retries transparently</a:t>
            </a:r>
          </a:p>
          <a:p>
            <a:pPr algn="l" marL="360554" indent="-180277" lvl="1">
              <a:lnSpc>
                <a:spcPts val="2722"/>
              </a:lnSpc>
              <a:buFont typeface="Arial"/>
              <a:buChar char="•"/>
            </a:pPr>
            <a:r>
              <a:rPr lang="en-US" b="true" sz="1670" spc="-8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All failures logged but don't crash the pipeline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5823" y="6727420"/>
            <a:ext cx="6724358" cy="263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Same pap</a:t>
            </a: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 appears in 2-4 sources. Dedup key priority: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1. DOI (most reliable): doi:10.1038/s41586-024-07999-z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2. PMID (PubMed-specific): pmid:38765432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3. Title (fuzzy fallback): title:gut microbiome</a:t>
            </a:r>
          </a:p>
          <a:p>
            <a:pPr algn="l">
              <a:lnSpc>
                <a:spcPts val="2396"/>
              </a:lnSpc>
            </a:pP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1,500 raw → 1,450 unique (50 duplicates removed)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priority: PubMed &gt; EuropePMC &gt; S2 &gt; OpenAlex &gt; Crossref &gt; CORE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Zenodo versions: deduplicated by normalized title (keeps latest version)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45574" y="6803620"/>
            <a:ext cx="6724358" cy="263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 source saves its position after every run: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{"pubmed": 200, "europepmc": 300, "crossref": 300,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"openalex": 300, "openalex_cursor": "IlsxN...",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"semantic_scholar": 0, "core": 0}</a:t>
            </a:r>
          </a:p>
          <a:p>
            <a:pPr algn="l">
              <a:lnSpc>
                <a:spcPts val="2396"/>
              </a:lnSpc>
            </a:pP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run resumes from saved position — no re-fetching.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PubMed: monthly sub-ranges × WebHistory offset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OpenAlex: opaque cursor string for exact continuation</a:t>
            </a:r>
          </a:p>
          <a:p>
            <a:pPr algn="l" marL="317375" indent="-158687" lvl="1">
              <a:lnSpc>
                <a:spcPts val="2396"/>
              </a:lnSpc>
              <a:buFont typeface="Arial"/>
              <a:buChar char="•"/>
            </a:pPr>
            <a:r>
              <a:rPr lang="en-US" b="true" sz="1470" spc="-73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S2: token-based pagination saved between runs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061" y="690851"/>
            <a:ext cx="20004093" cy="154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7040" spc="-98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SPEED: </a:t>
            </a:r>
          </a:p>
          <a:p>
            <a:pPr algn="l">
              <a:lnSpc>
                <a:spcPts val="5141"/>
              </a:lnSpc>
            </a:pPr>
            <a:r>
              <a:rPr lang="en-US" sz="5141" spc="-71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PARALLEL COLLECTION WITH THREAD POOL EXECUTOR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061" y="3144126"/>
            <a:ext cx="16831878" cy="678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All 6 collectors run simultane</a:t>
            </a: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ously using Python's ThreadPoolExecutor(max_workers=6)</a:t>
            </a: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873"/>
              </a:lnSpc>
              <a:spcBef>
                <a:spcPct val="0"/>
              </a:spcBef>
            </a:pPr>
          </a:p>
          <a:p>
            <a:pPr algn="l">
              <a:lnSpc>
                <a:spcPts val="3873"/>
              </a:lnSpc>
              <a:spcBef>
                <a:spcPct val="0"/>
              </a:spcBef>
            </a:pPr>
          </a:p>
          <a:p>
            <a:pPr algn="l">
              <a:lnSpc>
                <a:spcPts val="3873"/>
              </a:lnSpc>
              <a:spcBef>
                <a:spcPct val="0"/>
              </a:spcBef>
            </a:pPr>
            <a:r>
              <a:rPr lang="en-US" b="true" sz="2767" spc="12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threads work here (despite Python's GIL):</a:t>
            </a:r>
          </a:p>
          <a:p>
            <a:pPr algn="l" marL="597408" indent="-298704" lvl="1">
              <a:lnSpc>
                <a:spcPts val="3873"/>
              </a:lnSpc>
              <a:buFont typeface="Arial"/>
              <a:buChar char="•"/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Each collector spends 95%+ of its time waiting for HTTP responses (I/O-bound).</a:t>
            </a:r>
          </a:p>
          <a:p>
            <a:pPr algn="l" marL="597408" indent="-298704" lvl="1">
              <a:lnSpc>
                <a:spcPts val="3873"/>
              </a:lnSpc>
              <a:buFont typeface="Arial"/>
              <a:buChar char="•"/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Python releases the GIL during network I/O → all 6 can wait concurrently.</a:t>
            </a:r>
          </a:p>
          <a:p>
            <a:pPr algn="l" marL="597408" indent="-298704" lvl="1">
              <a:lnSpc>
                <a:spcPts val="3873"/>
              </a:lnSpc>
              <a:buFont typeface="Arial"/>
              <a:buChar char="•"/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No shared mutable state between threads — each Collector is independent.</a:t>
            </a:r>
          </a:p>
          <a:p>
            <a:pPr algn="l" marL="597408" indent="-298704" lvl="1">
              <a:lnSpc>
                <a:spcPts val="3873"/>
              </a:lnSpc>
              <a:buFont typeface="Arial"/>
              <a:buChar char="•"/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Each source has its own rate limiter — parallel ≠ increased API pressure.</a:t>
            </a:r>
          </a:p>
          <a:p>
            <a:pPr algn="l">
              <a:lnSpc>
                <a:spcPts val="3873"/>
              </a:lnSpc>
            </a:pPr>
          </a:p>
          <a:p>
            <a:pPr algn="l">
              <a:lnSpc>
                <a:spcPts val="3873"/>
              </a:lnSpc>
            </a:pPr>
          </a:p>
          <a:p>
            <a:pPr algn="l">
              <a:lnSpc>
                <a:spcPts val="3873"/>
              </a:lnSpc>
            </a:pPr>
            <a:r>
              <a:rPr lang="en-US" b="true" sz="2767" spc="12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5 sources complete in ~30 seconds (would take ~2.5 min sequential).</a:t>
            </a:r>
          </a:p>
          <a:p>
            <a:pPr algn="l">
              <a:lnSpc>
                <a:spcPts val="3873"/>
              </a:lnSpc>
            </a:pPr>
            <a:r>
              <a:rPr lang="en-US" sz="2767" spc="12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PubMed is the slowest (XML parsing + monthly splits) — it gates total time.</a:t>
            </a:r>
          </a:p>
          <a:p>
            <a:pPr algn="l">
              <a:lnSpc>
                <a:spcPts val="3873"/>
              </a:lnSpc>
              <a:spcBef>
                <a:spcPct val="0"/>
              </a:spcBef>
            </a:pPr>
          </a:p>
          <a:p>
            <a:pPr algn="l">
              <a:lnSpc>
                <a:spcPts val="387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061" y="3018302"/>
            <a:ext cx="15920215" cy="626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dentity: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doi, pmid, pmcid, arxiv_id, source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Content: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title, abstract, authors, keywords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Publication: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j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ournal, publication_date, publication_year, volume, issue, pages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Classification: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article_types (Journal Article, Review, Meta-Analysis, ...)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Access:      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is_open_access, full_text_url, pdf_url, full_text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Citations: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citation_count, reference_count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PubMed-specific: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mesh terms (controlled vocabulary — key for Stage 1)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7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Pipeline:      </a:t>
            </a:r>
            <a:r>
              <a:rPr lang="en-US" sz="2399" spc="7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content_hash (MD5), fetched_at (ISO timestamp), is_preprint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061" y="634951"/>
            <a:ext cx="20004093" cy="154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7040" spc="-98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THE DATA MODEL: PAPERRECORD</a:t>
            </a:r>
          </a:p>
          <a:p>
            <a:pPr algn="l">
              <a:lnSpc>
                <a:spcPts val="5141"/>
              </a:lnSpc>
            </a:pPr>
            <a:r>
              <a:rPr lang="en-US" sz="5141" spc="-71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PYDANTIC MODEL — SHARED CONTRACT BETWEEN ALL LAYERS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365" y="2458767"/>
            <a:ext cx="16513935" cy="2487411"/>
          </a:xfrm>
          <a:custGeom>
            <a:avLst/>
            <a:gdLst/>
            <a:ahLst/>
            <a:cxnLst/>
            <a:rect r="r" b="b" t="t" l="l"/>
            <a:pathLst>
              <a:path h="2487411" w="16513935">
                <a:moveTo>
                  <a:pt x="0" y="0"/>
                </a:moveTo>
                <a:lnTo>
                  <a:pt x="16513935" y="0"/>
                </a:lnTo>
                <a:lnTo>
                  <a:pt x="16513935" y="2487411"/>
                </a:lnTo>
                <a:lnTo>
                  <a:pt x="0" y="2487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936" y="8905570"/>
            <a:ext cx="17962128" cy="909333"/>
          </a:xfrm>
          <a:custGeom>
            <a:avLst/>
            <a:gdLst/>
            <a:ahLst/>
            <a:cxnLst/>
            <a:rect r="r" b="b" t="t" l="l"/>
            <a:pathLst>
              <a:path h="909333" w="17962128">
                <a:moveTo>
                  <a:pt x="0" y="0"/>
                </a:moveTo>
                <a:lnTo>
                  <a:pt x="17962128" y="0"/>
                </a:lnTo>
                <a:lnTo>
                  <a:pt x="17962128" y="909332"/>
                </a:lnTo>
                <a:lnTo>
                  <a:pt x="0" y="909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5365" y="692732"/>
            <a:ext cx="20004093" cy="128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7140" spc="-99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RELEVANCE FILTER PIPELINE: 5-STAGE FUNNEL</a:t>
            </a:r>
          </a:p>
          <a:p>
            <a:pPr algn="l">
              <a:lnSpc>
                <a:spcPts val="3041"/>
              </a:lnSpc>
            </a:pPr>
            <a:r>
              <a:rPr lang="en-US" sz="3041" spc="-42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DESIGN PRINCIPLE: USE THE CHEAPEST STAGE FIRST, EXPENSIVE LLM ONLY FOR TRUE BORDERLINES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5365" y="5230189"/>
            <a:ext cx="12557373" cy="3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 spc="-11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299" spc="-114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outing Logic: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PubMed papers (have MeSH terms) → Stage 1 first → Stage 2 if borderline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All other sources (no MeSH) → Stage 2 directly → Stage 3 if borderline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2 confident keeps → Metagenomics Gate → if no sequencing terms → flagged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Stage 3 borderline → Stage 3.5 embedding → if disagreement → Stage 4 LLM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Each paper exits the pipeline the moment any stage gives a confident decision.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5365" y="2371790"/>
            <a:ext cx="16963712" cy="591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3"/>
              </a:lnSpc>
              <a:spcBef>
                <a:spcPct val="0"/>
              </a:spcBef>
            </a:pPr>
            <a:r>
              <a:rPr lang="en-US" b="true" sz="1766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What: </a:t>
            </a: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MeSH (Medical Subject Headings) are assigned by NCBI librarians t</a:t>
            </a: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 every PubMed paper.</a:t>
            </a:r>
          </a:p>
          <a:p>
            <a:pPr algn="just">
              <a:lnSpc>
                <a:spcPts val="2473"/>
              </a:lnSpc>
              <a:spcBef>
                <a:spcPct val="0"/>
              </a:spcBef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 paper about 'gut flora' is tagged 'Gastrointestinal Microbiome' even if those words don't appear.</a:t>
            </a:r>
          </a:p>
          <a:p>
            <a:pPr algn="just">
              <a:lnSpc>
                <a:spcPts val="2473"/>
              </a:lnSpc>
              <a:spcBef>
                <a:spcPct val="0"/>
              </a:spcBef>
            </a:pPr>
          </a:p>
          <a:p>
            <a:pPr algn="just">
              <a:lnSpc>
                <a:spcPts val="2473"/>
              </a:lnSpc>
              <a:spcBef>
                <a:spcPct val="0"/>
              </a:spcBef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Three term lists from config/stage1_mesh.yaml: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mesh_keep: 313 terms (microbiome-specific: dysbiosis, FMT, probiotics...)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mesh_human_signal: 120 terms (Humans, Adult, Child, Infant...)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mesh_animal_only: 248 terms (Animals, Mice, Rats, Zebrafish...)</a:t>
            </a:r>
          </a:p>
          <a:p>
            <a:pPr algn="just">
              <a:lnSpc>
                <a:spcPts val="2473"/>
              </a:lnSpc>
              <a:spcBef>
                <a:spcPct val="0"/>
              </a:spcBef>
            </a:pPr>
          </a:p>
          <a:p>
            <a:pPr algn="just">
              <a:lnSpc>
                <a:spcPts val="2597"/>
              </a:lnSpc>
              <a:spcBef>
                <a:spcPct val="0"/>
              </a:spcBef>
            </a:pPr>
            <a:r>
              <a:rPr lang="en-US" b="true" sz="1855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Logic:</a:t>
            </a:r>
          </a:p>
          <a:p>
            <a:pPr algn="just">
              <a:lnSpc>
                <a:spcPts val="2473"/>
              </a:lnSpc>
              <a:spcBef>
                <a:spcPct val="0"/>
              </a:spcBef>
            </a:pP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IF has microbiome MeSH + human signal → KEEP (score=0.90)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IF has microbiome MeSH + no human/animal signal → KEEP (score=0.70)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IF has animal-only MeSH + no human signal → REJECT (score=0.10)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IF no microbiome MeSH at all → SKIP (passes to Stage 2)</a:t>
            </a:r>
          </a:p>
          <a:p>
            <a:pPr algn="l" marL="381438" indent="-190719" lvl="1">
              <a:lnSpc>
                <a:spcPts val="2473"/>
              </a:lnSpc>
              <a:buFont typeface="Arial"/>
              <a:buChar char="•"/>
            </a:pPr>
            <a:r>
              <a:rPr lang="en-US" sz="1766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Non-PubMed papers → skip Stage 1 entirely (no MeSH available)</a:t>
            </a:r>
          </a:p>
          <a:p>
            <a:pPr algn="l">
              <a:lnSpc>
                <a:spcPts val="2473"/>
              </a:lnSpc>
            </a:pPr>
          </a:p>
          <a:p>
            <a:pPr algn="ctr">
              <a:lnSpc>
                <a:spcPts val="2473"/>
              </a:lnSpc>
            </a:pPr>
            <a:r>
              <a:rPr lang="en-US" b="true" sz="1766" spc="5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267 papers kept at Stage 1 | 0 rejected (PubMed Humans filter already excluded animal papers)</a:t>
            </a:r>
          </a:p>
          <a:p>
            <a:pPr algn="l">
              <a:lnSpc>
                <a:spcPts val="2473"/>
              </a:lnSpc>
            </a:pPr>
          </a:p>
          <a:p>
            <a:pPr algn="just">
              <a:lnSpc>
                <a:spcPts val="2473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45365" y="8018028"/>
            <a:ext cx="8619117" cy="1688483"/>
          </a:xfrm>
          <a:custGeom>
            <a:avLst/>
            <a:gdLst/>
            <a:ahLst/>
            <a:cxnLst/>
            <a:rect r="r" b="b" t="t" l="l"/>
            <a:pathLst>
              <a:path h="1688483" w="8619117">
                <a:moveTo>
                  <a:pt x="0" y="0"/>
                </a:moveTo>
                <a:lnTo>
                  <a:pt x="8619117" y="0"/>
                </a:lnTo>
                <a:lnTo>
                  <a:pt x="8619117" y="1688483"/>
                </a:lnTo>
                <a:lnTo>
                  <a:pt x="0" y="168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5365" y="667650"/>
            <a:ext cx="16963712" cy="132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840" spc="-95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STAGE 1: MESH METADATA FILTER (PUBMED ONLY)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ZERO COST — PURE DICTIONARY LOOKUPS ON HUMAN-CURATED CONTROLLED VOCABULARY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2418997"/>
            <a:ext cx="16963712" cy="500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ositive terms:</a:t>
            </a: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716 weighted phrases (human gut microbiome=0.8, probiotics=0.6, ...)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Negative terms:</a:t>
            </a: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281 weighted phrases (mice=-0.5, zebrafish=-0.7, in vitro=-0.35, ...)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Score = (sum of matched positive weights + sum of matched negative weights), normalized to [0,1]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Thresholds: </a:t>
            </a: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KEEP ≥ 0.7  |  REJECT &lt; 0.4  |  BORDERLINE: 0.40-0.69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  <a:p>
            <a:pPr algn="l">
              <a:lnSpc>
                <a:spcPts val="2839"/>
              </a:lnSpc>
              <a:spcBef>
                <a:spcPct val="0"/>
              </a:spcBef>
            </a:pPr>
            <a:r>
              <a:rPr lang="en-US" b="true" sz="2028" spc="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Example:-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positive terms: </a:t>
            </a: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'human gut microbiome' (0.8), 'human intestinal microbiome' (0.75),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'human microbiome' (0.7), '16S rRNA' (0.65), 'fecal microbiota transplant' (0.65)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negative terms: </a:t>
            </a: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'mice' (-0.5), 'mouse model' (-0.5), 'zebrafish' (-0.7),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r>
              <a:rPr lang="en-US" sz="1928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'in vitro' (-0.35), 'soil microbiome' (-0.6), 'marine' (-0.5)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  <a:p>
            <a:pPr algn="ctr">
              <a:lnSpc>
                <a:spcPts val="2699"/>
              </a:lnSpc>
              <a:spcBef>
                <a:spcPct val="0"/>
              </a:spcBef>
            </a:pPr>
            <a:r>
              <a:rPr lang="en-US" b="true" sz="1928" spc="5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726 kept | 332 rejected | 3 borderline (passed to Stage 3)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  <a:p>
            <a:pPr algn="l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2144" y="7705100"/>
            <a:ext cx="16963712" cy="1553200"/>
          </a:xfrm>
          <a:custGeom>
            <a:avLst/>
            <a:gdLst/>
            <a:ahLst/>
            <a:cxnLst/>
            <a:rect r="r" b="b" t="t" l="l"/>
            <a:pathLst>
              <a:path h="1553200" w="16963712">
                <a:moveTo>
                  <a:pt x="0" y="0"/>
                </a:moveTo>
                <a:lnTo>
                  <a:pt x="16963712" y="0"/>
                </a:lnTo>
                <a:lnTo>
                  <a:pt x="16963712" y="1553200"/>
                </a:lnTo>
                <a:lnTo>
                  <a:pt x="0" y="1553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1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144" y="577184"/>
            <a:ext cx="16963712" cy="132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6840" spc="-95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STAGE 2: WEIGHTED KEYWORD SCORER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ALL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 SOURCES — SCANS TITLE + ABSTRACT + MESH + KEYWORDS + ARTICLE TYPES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2222650"/>
            <a:ext cx="16216619" cy="649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b="true" sz="178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: Applied AFTER Stage 2 c</a:t>
            </a: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onfident keeps. Checks if the paper mentions any sequencing methodology, bioinformatics tool, or 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data repository term.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b="true" sz="178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a separate gate?</a:t>
            </a: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A paper can be 'about human microbiome' (passes Stage 2) but be a pure clinical opinion piece with no sequencing data.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b="true" sz="178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Terms</a:t>
            </a: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: 228 substring-matched terms across 8 categories: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Sequencing Methods:     metagenom, shotgun, 16s, amplicon, nanopore, illumina...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Taxonomic Tools:                QIIME, DADA2, MetaPhlAn, Kraken, mothur...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Diversity Metrics:                alpha diversity, beta diversity, Shannon, UniFrac...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Data Repositories:             PRJNA, SRA, ENA, BioProject, 'data availab'...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Assembly Tools:                  SPAdes, MEGAHIT, binning, MAGs...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Study Design:                     cohort study, clinical trial, faecal sample...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Functional:                           KEGG, PICRUSt, resistome, pathway analysis...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Omics:                                    multi-omics, virome, mycobiome...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  <a:p>
            <a:pPr algn="just">
              <a:lnSpc>
                <a:spcPts val="2505"/>
              </a:lnSpc>
              <a:spcBef>
                <a:spcPct val="0"/>
              </a:spcBef>
            </a:pPr>
            <a:r>
              <a:rPr lang="en-US" b="true" sz="178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</a:t>
            </a:r>
            <a:r>
              <a:rPr lang="en-US" sz="178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: IF no term found → paper flagged for manual review (not hard-rejected)</a:t>
            </a:r>
          </a:p>
          <a:p>
            <a:pPr algn="ctr">
              <a:lnSpc>
                <a:spcPts val="2505"/>
              </a:lnSpc>
              <a:spcBef>
                <a:spcPct val="0"/>
              </a:spcBef>
            </a:pPr>
            <a:r>
              <a:rPr lang="en-US" b="true" sz="1789" spc="5">
                <a:solidFill>
                  <a:srgbClr val="FF75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15 papers flagged for review (had good keyword score but no sequencing mention)</a:t>
            </a: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  <a:p>
            <a:pPr algn="just">
              <a:lnSpc>
                <a:spcPts val="2505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2144" y="8396846"/>
            <a:ext cx="9516059" cy="1722908"/>
          </a:xfrm>
          <a:custGeom>
            <a:avLst/>
            <a:gdLst/>
            <a:ahLst/>
            <a:cxnLst/>
            <a:rect r="r" b="b" t="t" l="l"/>
            <a:pathLst>
              <a:path h="1722908" w="9516059">
                <a:moveTo>
                  <a:pt x="0" y="0"/>
                </a:moveTo>
                <a:lnTo>
                  <a:pt x="9516060" y="0"/>
                </a:lnTo>
                <a:lnTo>
                  <a:pt x="9516060" y="1722908"/>
                </a:lnTo>
                <a:lnTo>
                  <a:pt x="0" y="1722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144" y="598139"/>
            <a:ext cx="16963712" cy="128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0"/>
              </a:lnSpc>
            </a:pPr>
            <a:r>
              <a:rPr lang="en-US" sz="6540" spc="-91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METAGENOMICS GATE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ROJECT-SPECIFIC REQUIREMENT: PAPERS MUST MENTION SEQUENCING TERMS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2087152"/>
            <a:ext cx="17518746" cy="536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6"/>
              </a:lnSpc>
            </a:pPr>
            <a:r>
              <a:rPr lang="en-US" b="true" sz="2168" spc="-10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</a:t>
            </a: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: all-MiniLM-L6-v2 → 384-dim embedding → Logistic Regression binary classifier</a:t>
            </a:r>
          </a:p>
          <a:p>
            <a:pPr algn="just">
              <a:lnSpc>
                <a:spcPts val="3036"/>
              </a:lnSpc>
            </a:pPr>
          </a:p>
          <a:p>
            <a:pPr algn="just">
              <a:lnSpc>
                <a:spcPts val="3036"/>
              </a:lnSpc>
            </a:pPr>
            <a:r>
              <a:rPr lang="en-US" b="true" sz="2168" spc="-10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(self-supervised bootstrap):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Total samples: 11609 | Positives: 6539 | Negatives: 5070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Positives = papers with Stage 2 score &gt; 0.85 (pseudo-labeled as relevant)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Negatives = papers explicitly rejected (hard/medium/easy tiers for balanced training)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Cross-validation F1 (5-fold): 0.9062 ± 0.002</a:t>
            </a:r>
          </a:p>
          <a:p>
            <a:pPr algn="just">
              <a:lnSpc>
                <a:spcPts val="3036"/>
              </a:lnSpc>
            </a:pPr>
          </a:p>
          <a:p>
            <a:pPr algn="just">
              <a:lnSpc>
                <a:spcPts val="3036"/>
              </a:lnSpc>
              <a:spcBef>
                <a:spcPct val="0"/>
              </a:spcBef>
            </a:pPr>
            <a:r>
              <a:rPr lang="en-US" b="true" sz="2168" spc="-10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Thresholds (aut</a:t>
            </a:r>
            <a:r>
              <a:rPr lang="en-US" b="true" sz="2168" spc="-108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o-computed from probability distribution):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KEEP:       probability ≥ 0.850 (high confidence relevant)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REJECT:     probability ≤ 0.150 (high confidence irrelevant)</a:t>
            </a:r>
          </a:p>
          <a:p>
            <a:pPr algn="l" marL="468223" indent="-234111" lvl="1">
              <a:lnSpc>
                <a:spcPts val="3036"/>
              </a:lnSpc>
              <a:buFont typeface="Arial"/>
              <a:buChar char="•"/>
            </a:pPr>
            <a:r>
              <a:rPr lang="en-US" sz="2168" spc="-108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BORDERLINE: 0.150 – 0.850 → passes to Stage 3.5/4</a:t>
            </a:r>
          </a:p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b="true" sz="2168" spc="-108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6 kept | 41 rejected | borderline → Stage 3.5</a:t>
            </a:r>
          </a:p>
          <a:p>
            <a:pPr algn="just">
              <a:lnSpc>
                <a:spcPts val="303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09163" y="8103907"/>
            <a:ext cx="16669674" cy="1604456"/>
          </a:xfrm>
          <a:custGeom>
            <a:avLst/>
            <a:gdLst/>
            <a:ahLst/>
            <a:cxnLst/>
            <a:rect r="r" b="b" t="t" l="l"/>
            <a:pathLst>
              <a:path h="1604456" w="16669674">
                <a:moveTo>
                  <a:pt x="0" y="0"/>
                </a:moveTo>
                <a:lnTo>
                  <a:pt x="16669674" y="0"/>
                </a:lnTo>
                <a:lnTo>
                  <a:pt x="16669674" y="1604456"/>
                </a:lnTo>
                <a:lnTo>
                  <a:pt x="0" y="160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144" y="598139"/>
            <a:ext cx="16963712" cy="128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0"/>
              </a:lnSpc>
            </a:pPr>
            <a:r>
              <a:rPr lang="en-US" sz="6540" spc="-91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STAGE 3: ML CLASSIFIER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ENTENCE-TRANSFORMERS + LOGISTIC REGRESSION — HANDLES STAGE 2 BORDERLINE PAPERS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2211931"/>
            <a:ext cx="16221404" cy="573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What:</a:t>
            </a: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Compares a paper's embedding to known-good (positive) and known-bad (negative) papers.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Embedding Store:</a:t>
            </a: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7,098 positive + 3,877 negative vectors (384-dim)</a:t>
            </a:r>
          </a:p>
          <a:p>
            <a:pPr algn="l" marL="392259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Grows automatically every run — confident keeps/rejects are fed back into the store.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Logic (cosine similarity):</a:t>
            </a:r>
          </a:p>
          <a:p>
            <a:pPr algn="l" marL="392259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IF pos_similarity ≥ 0.85 AND neg_similarity &lt; 0.60 → KEEP</a:t>
            </a:r>
          </a:p>
          <a:p>
            <a:pPr algn="l" marL="392259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IF neg_similarity ≥ 0.85 AND pos_similarity &lt; 0.60 → REJECT</a:t>
            </a:r>
          </a:p>
          <a:p>
            <a:pPr algn="l" marL="392259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OTHERWISE → BORDERLINE (passes to Stage 4 LLM)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  <a:spcBef>
                <a:spcPct val="0"/>
              </a:spcBef>
            </a:pPr>
            <a:r>
              <a:rPr lang="en-US" b="true" sz="1816" spc="-90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Disagreement R</a:t>
            </a:r>
            <a:r>
              <a:rPr lang="en-US" b="true" sz="1816" spc="-90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outer: </a:t>
            </a: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If Stage 2 says REJECT but Stage 3.5 says KEEP (or vice versa), the paper is routed to Stage 4 LLM for final arbitration.</a:t>
            </a:r>
          </a:p>
          <a:p>
            <a:pPr algn="l">
              <a:lnSpc>
                <a:spcPts val="2543"/>
              </a:lnSpc>
              <a:spcBef>
                <a:spcPct val="0"/>
              </a:spcBef>
            </a:pPr>
          </a:p>
          <a:p>
            <a:pPr algn="l">
              <a:lnSpc>
                <a:spcPts val="2543"/>
              </a:lnSpc>
              <a:spcBef>
                <a:spcPct val="0"/>
              </a:spcBef>
            </a:pPr>
            <a:r>
              <a:rPr lang="en-US" b="true" sz="1816" spc="-90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Self-Learning Loop:</a:t>
            </a:r>
          </a:p>
          <a:p>
            <a:pPr algn="l">
              <a:lnSpc>
                <a:spcPts val="2543"/>
              </a:lnSpc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1. Paper gets final verdict (kept/rejected) with confidence &gt; 0.80</a:t>
            </a:r>
          </a:p>
          <a:p>
            <a:pPr algn="l">
              <a:lnSpc>
                <a:spcPts val="2543"/>
              </a:lnSpc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2. Its embedding is added to the positive or negative partition</a:t>
            </a:r>
          </a:p>
          <a:p>
            <a:pPr algn="l">
              <a:lnSpc>
                <a:spcPts val="2543"/>
              </a:lnSpc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3. Next run, similar papers are classified faster (no LLM needed)</a:t>
            </a:r>
          </a:p>
          <a:p>
            <a:pPr algn="l">
              <a:lnSpc>
                <a:spcPts val="2543"/>
              </a:lnSpc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4. Store has grown from 50 initial seeds → 10,975 vectors</a:t>
            </a:r>
          </a:p>
          <a:p>
            <a:pPr algn="l">
              <a:lnSpc>
                <a:spcPts val="2543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96056" y="7942049"/>
            <a:ext cx="16095888" cy="1851027"/>
          </a:xfrm>
          <a:custGeom>
            <a:avLst/>
            <a:gdLst/>
            <a:ahLst/>
            <a:cxnLst/>
            <a:rect r="r" b="b" t="t" l="l"/>
            <a:pathLst>
              <a:path h="1851027" w="16095888">
                <a:moveTo>
                  <a:pt x="0" y="0"/>
                </a:moveTo>
                <a:lnTo>
                  <a:pt x="16095888" y="0"/>
                </a:lnTo>
                <a:lnTo>
                  <a:pt x="16095888" y="1851027"/>
                </a:lnTo>
                <a:lnTo>
                  <a:pt x="0" y="1851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144" y="592741"/>
            <a:ext cx="16963712" cy="129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STAGE 3.5: EMBEDDING SIMILARITY FILTER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THE K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EY INNOVATION — IT LEARNS FROM ITSELF, NO MANUAL LABELING NEEDED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2353816"/>
            <a:ext cx="16221404" cy="502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What:</a:t>
            </a: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Local Ollama LLM classifies truly borderline papers with a structured prompt.</a:t>
            </a:r>
          </a:p>
          <a:p>
            <a:pPr algn="l">
              <a:lnSpc>
                <a:spcPts val="2543"/>
              </a:lnSpc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Model: gemma3:4b (3.3 GB) — runs locally, no API costs, no data leaves your machine.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local LLM?</a:t>
            </a:r>
          </a:p>
          <a:p>
            <a:pPr algn="l" marL="392260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No API costs or rate limits | Data privacy (papers never leave the machine)</a:t>
            </a:r>
          </a:p>
          <a:p>
            <a:pPr algn="l" marL="392260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Reproducible (temperature=0) | Cached — same paper never classified twice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</a:pPr>
            <a:r>
              <a:rPr lang="en-US" sz="1816" spc="-90" b="true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Caching Strategy:</a:t>
            </a:r>
          </a:p>
          <a:p>
            <a:pPr algn="l" marL="392260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Hash cache: MD5(title + abstract) → stored in data/processed/llm_cache.json</a:t>
            </a:r>
          </a:p>
          <a:p>
            <a:pPr algn="l" marL="392260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Semantic cache: If a new paper's embedding is &gt;0.97 similar to a cached paper, reuse that verdict without calling LLM (saves inference time on near-duplicates).</a:t>
            </a:r>
          </a:p>
          <a:p>
            <a:pPr algn="l" marL="392260" indent="-196130" lvl="1">
              <a:lnSpc>
                <a:spcPts val="2543"/>
              </a:lnSpc>
              <a:buFont typeface="Arial"/>
              <a:buChar char="•"/>
            </a:pPr>
            <a:r>
              <a:rPr lang="en-US" sz="1816" spc="-9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Current cache: 60 verdicts (28 keep, 32 reject)</a:t>
            </a:r>
          </a:p>
          <a:p>
            <a:pPr algn="l">
              <a:lnSpc>
                <a:spcPts val="2543"/>
              </a:lnSpc>
            </a:pPr>
          </a:p>
          <a:p>
            <a:pPr algn="ctr">
              <a:lnSpc>
                <a:spcPts val="2543"/>
              </a:lnSpc>
            </a:pPr>
            <a:r>
              <a:rPr lang="en-US" b="true" sz="1816" spc="-90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 28 kept | 21 rejected | 11 sent to human review (confidence &lt; 0.70)</a:t>
            </a:r>
          </a:p>
          <a:p>
            <a:pPr algn="l">
              <a:lnSpc>
                <a:spcPts val="2543"/>
              </a:lnSpc>
            </a:pPr>
          </a:p>
          <a:p>
            <a:pPr algn="l">
              <a:lnSpc>
                <a:spcPts val="2543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5664" y="7682045"/>
            <a:ext cx="16376673" cy="1576255"/>
          </a:xfrm>
          <a:custGeom>
            <a:avLst/>
            <a:gdLst/>
            <a:ahLst/>
            <a:cxnLst/>
            <a:rect r="r" b="b" t="t" l="l"/>
            <a:pathLst>
              <a:path h="1576255" w="16376673">
                <a:moveTo>
                  <a:pt x="0" y="0"/>
                </a:moveTo>
                <a:lnTo>
                  <a:pt x="16376672" y="0"/>
                </a:lnTo>
                <a:lnTo>
                  <a:pt x="16376672" y="1576255"/>
                </a:lnTo>
                <a:lnTo>
                  <a:pt x="0" y="1576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144" y="592741"/>
            <a:ext cx="16963712" cy="129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STAGE 4: LLM VERIFIER </a:t>
            </a:r>
          </a:p>
          <a:p>
            <a:pPr algn="l">
              <a:lnSpc>
                <a:spcPts val="3541"/>
              </a:lnSpc>
            </a:pP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ONLY FIR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ES FOR G</a:t>
            </a:r>
            <a:r>
              <a:rPr lang="en-US" sz="3541" spc="-49">
                <a:solidFill>
                  <a:srgbClr val="B8B39A"/>
                </a:solidFill>
                <a:latin typeface="Anton"/>
                <a:ea typeface="Anton"/>
                <a:cs typeface="Anton"/>
                <a:sym typeface="Anton"/>
              </a:rPr>
              <a:t>ENUINELY UNCERTAIN PAPERS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2804468"/>
            <a:ext cx="13084230" cy="1684595"/>
          </a:xfrm>
          <a:custGeom>
            <a:avLst/>
            <a:gdLst/>
            <a:ahLst/>
            <a:cxnLst/>
            <a:rect r="r" b="b" t="t" l="l"/>
            <a:pathLst>
              <a:path h="1684595" w="13084230">
                <a:moveTo>
                  <a:pt x="0" y="0"/>
                </a:moveTo>
                <a:lnTo>
                  <a:pt x="13084230" y="0"/>
                </a:lnTo>
                <a:lnTo>
                  <a:pt x="13084230" y="1684595"/>
                </a:lnTo>
                <a:lnTo>
                  <a:pt x="0" y="1684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2331" y="642608"/>
            <a:ext cx="10624089" cy="107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40"/>
              </a:lnSpc>
            </a:pPr>
            <a:r>
              <a:rPr lang="en-US" sz="804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RESULT: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2331" y="1646742"/>
            <a:ext cx="10624089" cy="68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1"/>
              </a:lnSpc>
            </a:pPr>
            <a:r>
              <a:rPr lang="en-US" sz="5241" spc="-73">
                <a:solidFill>
                  <a:srgbClr val="FFF8D4">
                    <a:alpha val="70980"/>
                  </a:srgbClr>
                </a:solidFill>
                <a:latin typeface="Anton"/>
                <a:ea typeface="Anton"/>
                <a:cs typeface="Anton"/>
                <a:sym typeface="Anton"/>
              </a:rPr>
              <a:t>LAYER 1 FINAL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0364" y="4618525"/>
            <a:ext cx="618738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10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Stage</a:t>
            </a:r>
            <a:r>
              <a:rPr lang="en-US" b="true" sz="2199" spc="-10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Efficiency — Papers Resolved Per Stage: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10364" y="5143500"/>
          <a:ext cx="15067271" cy="4445387"/>
        </p:xfrm>
        <a:graphic>
          <a:graphicData uri="http://schemas.openxmlformats.org/drawingml/2006/table">
            <a:tbl>
              <a:tblPr/>
              <a:tblGrid>
                <a:gridCol w="2782729"/>
                <a:gridCol w="2782729"/>
                <a:gridCol w="2782729"/>
                <a:gridCol w="2782729"/>
                <a:gridCol w="3936357"/>
              </a:tblGrid>
              <a:tr h="73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Papers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% of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8"/>
                    </a:solidFill>
                  </a:tcPr>
                </a:tc>
              </a:tr>
              <a:tr h="73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Stage 1 (MeSH)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Free — dict lookup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Stage 2 (Keywords)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 1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Free — regex matching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 (Metagenomics)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 1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Free — substring 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Stage 3 (ML)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~5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Sentence-transformer inference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5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Stage 4 (LLM)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~8-10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 Ollama (gemma3:4b)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331" y="698614"/>
            <a:ext cx="10624089" cy="76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sz="5740" spc="-8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CONT.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083775"/>
            <a:ext cx="1623060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109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97% </a:t>
            </a:r>
            <a:r>
              <a:rPr lang="en-US" b="true" sz="2199" spc="-109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 decisions made by free, instant stages (1+2+Gate+3). LLM only handles 4% — the truly ambiguous cases.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10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data/processed/collected_20260720_205759.json → 1,027 PaperRecord objects → ready for Layer 2 NLP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-10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Papers by year:</a:t>
            </a: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2024: 278 | 2025: 202 | 2026: 527  |  </a:t>
            </a:r>
            <a:r>
              <a:rPr lang="en-US" b="true" sz="2199" spc="-109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 access: </a:t>
            </a:r>
            <a:r>
              <a:rPr lang="en-US" sz="2199" spc="-10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571 (55%)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44959" y="-127946"/>
            <a:ext cx="6798084" cy="8661424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1490830"/>
            <a:ext cx="16963712" cy="8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AUDIT, OBSER</a:t>
            </a: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VABILITY &amp; CONTROLS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2144" y="3285558"/>
            <a:ext cx="15842223" cy="466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Every decision is l</a:t>
            </a: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ogged — fully auditable pipeline: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Audit Files (data/audit/):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kept.json          — all papers that passed all stages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rejected.json      — all papers rejected at any stage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review.json        — papers flagged for human review (gate + low confidence)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llm_verified.json  — Stage 4 LLM verdicts with confidence + reason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rejected_report_*.csv — human-readable CSV with rejection_cause column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CSV File:</a:t>
            </a:r>
            <a:r>
              <a:rPr lang="en-US" sz="2199" spc="6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List of all the rejected papers with stages, doi and reason of rejection.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1032583"/>
            <a:ext cx="16963712" cy="8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ARCHITECTURE DEC</a:t>
            </a: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ISIONS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2144" y="2606022"/>
            <a:ext cx="16963712" cy="49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Design Decisions: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Cheapest first — 96% of papers never touch the LLM (saves h</a:t>
            </a: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ours of inference time)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Self-learning — embedding store grows every run, reducing LLM dependency over time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THE KEY INSIGHT: Every run makes the NEXT run cheaper and faster.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Graceful degradation — if ML model absent, pipeline still works (rules-only mode)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Work: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Stage 2 auto-calibration (needs 50+ Stage 1 negatives — requires broader PubMed query)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Hybrid classifier (stacked meta-learner, activates at 2000+ store vectors — threshold met)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Scalability:</a:t>
            </a: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Current architecture handles 100,000+ papers across multiple runs.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Monthly PubMed splits (36 sessions × 9,999 papers = 360,000 max capacity).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Cursor persistence enables incremental collection without re-fetching.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144" y="1032583"/>
            <a:ext cx="16963712" cy="8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POST-PROCESSING: GROWTH, METRIC</a:t>
            </a: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 &amp; REPORTING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2144" y="2077850"/>
            <a:ext cx="9846246" cy="765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the relevance filter loop c</a:t>
            </a: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ompletes, three things happen: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EMBEDDING STORE GROWTH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Papers with confident verdicts are fed back into the embedding store: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Score ≥ 0.80 → added to POSITIVE partition (currently 7,098 vectors)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Score ≤ 0.20 → added to NEGATIVE partition (currently 3,877 vectors)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0.20 &lt; score &lt; 0.80 → skipped (no confident signal to learn from)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Dedup check: papers already in store (by DOI/PMID) are not re-added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PIPELINE METRICS (data/metrics/pipeline_runs.jsonl)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Each run appends a JSON line with: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Paper counts: total, per-stage kept/rejected/borderline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LLM stats: calls made, semantic cache hits, avg latency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Store sizes: positive count, negative count at run completion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• Embedding latency: avg_ms, p95_ms (monitors degradation at scale)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5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REJECTED PAPERS CSV EXPORT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Human-readable CSV with columns: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title, doi, pmid, doi_or_id, source, rejection_cause, stage, score, reason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rejection_cause explicitly differentiates: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'Stage 2: Score Too Low' vs 'Metagenomics Gate' vs 'Stage 3: ML Classifier Reject'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  vs 'Stage 3.5: Embedding Similarity Reject' vs 'Stage 4: LLM Reject'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144" y="1532140"/>
            <a:ext cx="8481856" cy="8158947"/>
          </a:xfrm>
          <a:custGeom>
            <a:avLst/>
            <a:gdLst/>
            <a:ahLst/>
            <a:cxnLst/>
            <a:rect r="r" b="b" t="t" l="l"/>
            <a:pathLst>
              <a:path h="8158947" w="8481856">
                <a:moveTo>
                  <a:pt x="0" y="0"/>
                </a:moveTo>
                <a:lnTo>
                  <a:pt x="8481856" y="0"/>
                </a:lnTo>
                <a:lnTo>
                  <a:pt x="8481856" y="8158948"/>
                </a:lnTo>
                <a:lnTo>
                  <a:pt x="0" y="8158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2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144" y="649085"/>
            <a:ext cx="16963712" cy="8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TERMINAL RUN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144" y="1736453"/>
            <a:ext cx="11773838" cy="8043003"/>
          </a:xfrm>
          <a:custGeom>
            <a:avLst/>
            <a:gdLst/>
            <a:ahLst/>
            <a:cxnLst/>
            <a:rect r="r" b="b" t="t" l="l"/>
            <a:pathLst>
              <a:path h="8043003" w="11773838">
                <a:moveTo>
                  <a:pt x="0" y="0"/>
                </a:moveTo>
                <a:lnTo>
                  <a:pt x="11773838" y="0"/>
                </a:lnTo>
                <a:lnTo>
                  <a:pt x="11773838" y="8043003"/>
                </a:lnTo>
                <a:lnTo>
                  <a:pt x="0" y="8043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144" y="649085"/>
            <a:ext cx="16963712" cy="8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6640" spc="-9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CONT.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7933" y="2982455"/>
            <a:ext cx="9812133" cy="465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1"/>
              </a:lnSpc>
            </a:pPr>
            <a:r>
              <a:rPr lang="en-US" sz="17911" spc="268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  <a:p>
            <a:pPr algn="ctr">
              <a:lnSpc>
                <a:spcPts val="17911"/>
              </a:lnSpc>
            </a:pPr>
            <a:r>
              <a:rPr lang="en-US" sz="17911" spc="268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DAHQAiTTc24</dc:identifier>
  <dcterms:modified xsi:type="dcterms:W3CDTF">2011-08-01T06:04:30Z</dcterms:modified>
  <cp:revision>1</cp:revision>
  <dc:title>Black and Yellow Typographic Data Analyst Presentation</dc:title>
</cp:coreProperties>
</file>