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Human Microbiome Literature Miner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AF0F8"/>
                </a:solidFill>
              </a:rPr>
              <a:t>Layer 2 — NLP Enrichment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743200"/>
            <a:ext cx="7616952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926080"/>
            <a:ext cx="2286000" cy="11887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9923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F0F8"/>
                </a:solidFill>
              </a:rPr>
              <a:t>Layer 1 papers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926080"/>
            <a:ext cx="2286000" cy="11887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99923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F0F8"/>
                </a:solidFill>
              </a:rPr>
              <a:t>5 NLP + BioBERT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2286000" cy="11887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99923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F0F8"/>
                </a:solidFill>
              </a:rPr>
              <a:t>Enriched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39" y="2926080"/>
            <a:ext cx="2286000" cy="11887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79" y="299923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</a:rPr>
              <a:t>GPU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9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F0F8"/>
                </a:solidFill>
              </a:rPr>
              <a:t>CUDA accelerated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AF0F8"/>
                </a:solidFill>
              </a:rPr>
              <a:t>Transforms raw paper records into structured knowledge ready for the Knowledge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Layer 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Two-phase parallel pipeline: I/O fetch → CPU/GPU NLP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Full Text 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ThreadPoolExecutor
32 I/O threads
~7-35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51206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EuropePMC 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NCBI PMC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PDF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3250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Web Scraper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Unpaywall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NCBI Abstract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05840"/>
            <a:ext cx="548640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2412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NLP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GPU: ThreadPoolExecutor
CPU: ProcessPoolExecutor
~15-30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514600"/>
            <a:ext cx="5120640" cy="274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060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ArticleClassifier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815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JournalClassifier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5570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SectionParser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3250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NERExtractor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0799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DataAvailability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Output: enriched_batch_NNNN.json  +  enriched_manifest.json  +  data/fulltext/{hash}.txt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Phase 1 — Full Text Fetching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ThreadPoolExecutor: 32 threads fetch in parallel, smart caching prevents re-fetching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30352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Papers with PMCID → OA full text guaranteed
Papers with DOI → Unpaywall finds legal OA version
Papers with PMID only → NCBI complete abstract
All others → abstract from collector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5120640" cy="2743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PERSISTENT CACHE (data/fulltext/fetch_cache.json)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Success → cached by content_hash → instant on re-run
Exhausted → all strategies failed → skip next run
At 500K papers: saves millions of HTTP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120640" cy="2743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FULL TEXT STORED SEPARATELY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data/fulltext/{hash[:2]}/{hash}.txt
Enriched JSON stores only fulltext_path (path reference)
Prevents JSON files from growing to 3GB+ at 500K papers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00584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005840"/>
            <a:ext cx="32004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8988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EuropePMC 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44475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PMCID → structured sections
(abstract/methods/results)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031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~0.5s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00584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005840"/>
            <a:ext cx="320040" cy="1371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38988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097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NCBI PMC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44475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PMCID → JATS XML full text
(larger OA subset)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031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~1.0s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51460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2514600"/>
            <a:ext cx="32004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289864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606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PDF Parser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95351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pdf_url → PyMuPDF extract
(multi-column reading order)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6118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~3-8s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51460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2514600"/>
            <a:ext cx="32004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289864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606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 Scraper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95351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full_text_url → trafilatura
(tables included)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6118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~2-5s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02336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4023360"/>
            <a:ext cx="320040" cy="13716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440740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703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Unpaywall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62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DOI → legal OA PDF/HTML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1206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B703"/>
                </a:solidFill>
              </a:rPr>
              <a:t>~1.5s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4023360"/>
            <a:ext cx="2926080" cy="13716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4023360"/>
            <a:ext cx="320040" cy="13716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4407408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703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NCBI Abstract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462272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PMID → complete abstract
(structured sections)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512064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B703"/>
                </a:solidFill>
              </a:rPr>
              <a:t>~0.5s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Phase 2 — NLP Processing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5 modules run on every paper — rule-based modules fast, BioBERT/LLM only when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749039" cy="23774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88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881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ArticleClassifier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45389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3-tier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Tier1: PubMed tags → 1.0 conf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Tier2: Title patterns → 0.85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359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Tier3: Abstract patterns →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660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Fixed: 'journal article' no longer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626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short-circuits meta-analysis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172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⏱ ~1ms/paper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051560"/>
            <a:ext cx="3749039" cy="23774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051560"/>
            <a:ext cx="3749039" cy="34747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088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Module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10881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JournalClassifier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45389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200+ journal DB (expanded)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CrossRef API fallback (cached)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 OA field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359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ISSN/name 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660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Predatory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172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</a:rPr>
              <a:t>⏱ ~2ms/paper
(cache hit: &lt;1ms)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051560"/>
            <a:ext cx="3749039" cy="23774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051560"/>
            <a:ext cx="3749039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088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Module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0881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SectionParser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45389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Structured abstract splitting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text section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Fixed: numbered headers (1.2)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359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Fixed: ALL-CAPS headers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660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Fixed: PDF double-newlines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172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</a:rPr>
              <a:t>⏱ ~2ms/paper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3749039" cy="23774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657600"/>
            <a:ext cx="3749039" cy="34747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941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Module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6941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NERExtractor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40599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Tier1: 18 entity 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4361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300+ compiled regex patterns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Tier2: BioBERT (GPU)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Tier3: Ollama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79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Fixed: abbreviation disambiguation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79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Span tracking per section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79" y="57790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B703"/>
                </a:solidFill>
              </a:rPr>
              <a:t>⏱ CPU: ~5ms
GPU BioBERT: ~50ms
LLM: ~8-15s (gated)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59" y="3657600"/>
            <a:ext cx="3749039" cy="23774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59" y="3657600"/>
            <a:ext cx="3749039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399" y="36941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Module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36941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DataAvailability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0599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Accession number extraction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361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SRA/GEO/ENA/Zenodo etc.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URL extraction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Status: open/restricted/accession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Searches all sections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7790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76F"/>
                </a:solidFill>
              </a:rPr>
              <a:t>⏱ ~2ms/paper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Module 4 — NER Extractor (3-Tier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Tier 1 always runs. Tier 2 BioBERT on GPU. Tier 3 LLM only for novel entities.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57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24128"/>
            <a:ext cx="1371600" cy="42062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06070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Rule-Based Regex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Always ON — 300+ patterns, 18 categories, &lt;5ms/paper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024128"/>
            <a:ext cx="1371600" cy="42062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06070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7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BioBERT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7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use_ner_model=True — d4data/biomedical-ner-all, ~50ms/paper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24128"/>
            <a:ext cx="1371600" cy="42062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060704"/>
            <a:ext cx="1335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Tier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6648" y="1097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Ollama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6648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use_llm=True — novel entities only, gated by GPU semaphore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72768"/>
            <a:ext cx="11612880" cy="3703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664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18 ENTITY CATEGORIES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5740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057400"/>
            <a:ext cx="219456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75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taxon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8658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300+ species/genera
reclassified taxa included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6624" y="205740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06624" y="2057400"/>
            <a:ext cx="219456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98064" y="2075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disease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8064" y="238658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200+ conditions
abbreviation disambiguation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7488" y="205740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7488" y="2057400"/>
            <a:ext cx="219456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8" y="2075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238658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sequencing platforms
bioinformatics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88352" y="205740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88352" y="2057400"/>
            <a:ext cx="219456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2075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body_site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238658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anatomical locations
section-aware tagging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9216" y="205740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29216" y="2057400"/>
            <a:ext cx="2194560" cy="2743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0656" y="2075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treatment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238658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drugs/probiotics/diet
FMT/antibiotics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1188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611880"/>
            <a:ext cx="2194560" cy="274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630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metabolite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94106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SCFAs/bile acids/LPS
tryptophan metabolites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06624" y="361188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06624" y="3611880"/>
            <a:ext cx="2194560" cy="274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98064" y="3630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gene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8064" y="394106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TLR4/NOD2/IL-6
transcription factors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47488" y="361188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47488" y="3611880"/>
            <a:ext cx="2194560" cy="2743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928" y="3630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protein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38928" y="394106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zonulin/calprotectin
tight junction proteins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88352" y="361188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88352" y="3611880"/>
            <a:ext cx="2194560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9792" y="3630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biomarker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394106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Shannon index/CRP
diversity metrics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29216" y="3611880"/>
            <a:ext cx="2194560" cy="1417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29216" y="3611880"/>
            <a:ext cx="2194560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20656" y="36301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dataset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0656" y="3941064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SRA/GEO/ENA IDs
auto-extracted accessions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367528"/>
            <a:ext cx="11612880" cy="3657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KEY FIX: source_section tracking — every entity tagged with title/abstract/methods/results/discussion  |  Abbreviation disambiguation: UC/RA/MS require clinical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GPU Resource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Smart scheduling prevents BioBERT and Ollama from competing for GPU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BioBERT (d4data) uses GPU VRAM (~2GB)
Ollama qwen2.5:1.5b also uses GPU VRAM
With 12 threads all calling both simultaneously:
  → GPU OOM errors or timeouts
  → Ollama 120s timeout on every call
  → ProcessPoolExecutor = 8 processes
     each loading BioBERT = 16GB VRAM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5120640" cy="2743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THE FIX — Two-Level Resource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519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_GPU_SEMAPHORE (threading.Semaphore(1))
   Only 1 GPU operation at a time
   BioBERT waits if Ollama is running
   Ollama waits if BioBERT is running
2. _OLLAMA_NER_LOCK (threading.Lock())
   Only 1 thread calls Ollama at a time
   Prevents 12 concurrent 120s timeouts
   Ollama processes requests sequentially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05840"/>
            <a:ext cx="594360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972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EXECUTION MODE SELECTION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5577840" cy="21031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73152" cy="21031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GPU MODE (your setup)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torch.cuda.is_available() → True
  → ThreadPoolExecutor (12 threads)
  → 1 shared BioBERT on GPU
  → _GPU_SEMAPHORE coordinates access
  → Expected: ~15-30 min for 1K papers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703320"/>
            <a:ext cx="5577840" cy="21031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03320"/>
            <a:ext cx="73152" cy="21031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74903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CPU MODE (fallback)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690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torch.cuda.is_available() → False
  → ProcessPoolExecutor (8 processes)
  → Each process loads BioBERT on CPU
  → No GPU coordination needed
  → Expected: ~5 hours for 1K papers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897880"/>
            <a:ext cx="557784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961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NLP_WORKERS=12  NLP_IO_WORKERS=32  NLP_CHUNK_SIZE=5000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Scale Optimizations for 500K+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Every shortcut removed — designed for production quality at full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749039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Incremental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79" y="104241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06070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408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content_hash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773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(enriched_hashes.txt)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396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Skips already-processed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5054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papers on re-run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Saves hours at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005840"/>
            <a:ext cx="374903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0424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Chunked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04241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106070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B4D8"/>
                </a:solidFill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408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enriched_batch_NNNN.json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773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1000-5000 per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1396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+ manifest.json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054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Prevents memory crash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712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with large datasets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005840"/>
            <a:ext cx="3749039" cy="34747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0424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Full Text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38560" y="104241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56848" y="106070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8CAE4"/>
                </a:solidFill>
              </a:rPr>
              <a:t>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408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data/fulltext/{hash}.txt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773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JSON stores path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1396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Prevents 3GB JSON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5054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IDempotent writes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8712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Subdir sharding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0332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3703320"/>
            <a:ext cx="3749039" cy="34747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739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load_all() Method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79" y="373989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01568" y="375818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B703"/>
                </a:solidFill>
              </a:rPr>
              <a:t>Important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41056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Merges all batch 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44714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Deduplicates by hash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79" y="4837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Same as Layer 1 pattern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202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Used by Layer 3 KG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370332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59" y="3703320"/>
            <a:ext cx="3749039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399" y="3739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Persistent Caches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19" y="373989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208" y="375818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F476F"/>
                </a:solidFill>
              </a:rPr>
              <a:t>Important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1056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fetch_cache.json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4714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journal_crossref_cache.json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837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llm_extract_cache.json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202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 re-fetching same paper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70332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3703320"/>
            <a:ext cx="3749039" cy="347472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3739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Pre-compiled NER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338560" y="3739896"/>
            <a:ext cx="548640" cy="256032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56848" y="375818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77DFF"/>
                </a:solidFill>
              </a:rPr>
              <a:t>Performance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1056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Combined regex per category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4714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 patterns → 18 regexes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4837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15-20x faster at scale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52029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Sorted longest-first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Expected Processing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Approximate times based on 1,966 papers with GPU (CUDA)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12880" cy="41148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PHASE-BY-PHASE TIMING (1,966 papers)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430000" cy="10972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731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81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Text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ThreadPoolExecutor 32 threads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645919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7335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~22-35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645919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61848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361/1966 (18%) got full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645919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61848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Network I/O bound
Slower for papers with PMCID
(PMC fetch ~1.4s/paper)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11430000" cy="10972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73152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706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NLP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ThreadPoolExecutor GPU 12 threads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834640"/>
            <a:ext cx="36576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862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A0"/>
                </a:solidFill>
              </a:rPr>
              <a:t>~15-27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834640"/>
            <a:ext cx="36576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80720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1966 papers processed
0 failures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834640"/>
            <a:ext cx="36576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80720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BioBERT ~50ms/GPU
Ollama LLM gated by semaphore
~8-15s per LLM call (rare)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11430000" cy="10972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86200"/>
            <a:ext cx="73152" cy="109728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95935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703"/>
                </a:solidFill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Complete Layer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297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Both phases sequential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023360"/>
            <a:ext cx="36576" cy="8229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4050791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B703"/>
                </a:solidFill>
              </a:rPr>
              <a:t>~37-62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023360"/>
            <a:ext cx="36576" cy="8229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399592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102 enriched in test run
1966 in full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4023360"/>
            <a:ext cx="36576" cy="8229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99592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F0F8"/>
                </a:solidFill>
              </a:rPr>
              <a:t>Phase 1 dominates
Full text fetch is I/O wait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230368"/>
            <a:ext cx="11612880" cy="5029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SCALE PROJECTION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5257800"/>
            <a:ext cx="192024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39" y="5276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F0F8"/>
                </a:solidFill>
              </a:rPr>
              <a:t>100 papers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52760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~2-4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5257800"/>
            <a:ext cx="192024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5276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F0F8"/>
                </a:solidFill>
              </a:rPr>
              <a:t>1K papers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2760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~20-40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257800"/>
            <a:ext cx="192024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5276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F0F8"/>
                </a:solidFill>
              </a:rPr>
              <a:t>10K papers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760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~3-7 hrs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5257800"/>
            <a:ext cx="192024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527608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F0F8"/>
                </a:solidFill>
              </a:rPr>
              <a:t>100K papers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52760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~30-70 hrs (multi-run)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806440"/>
            <a:ext cx="11612880" cy="4114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Incremental processing: second run with same papers takes &lt;10 seconds (all skipped via hash index)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Quality Improvements — No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Every module rebuilt for production quality — removed all quick-path hacks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749039" cy="3200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4241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pdf_parser.py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Windows-safe tempfile (delete=False)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282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Multi-column reading order (block sort)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665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Resource cleanup (doc.close, unlink)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Content-Type guard before fitz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Scanned PDF detection (min 300 chars)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081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Section detection from PDF 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005840"/>
            <a:ext cx="3749039" cy="3200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04241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study_design.py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38988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18 patterns across 10 design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7282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Calibrated confidence 0.30-0.95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665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RCT requires co-occurrence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Returns all_designs list (not just first)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432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is_rct and is_prospective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081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Meta-analysis / SR / Protocol types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00584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005840"/>
            <a:ext cx="3749039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04241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article_classifier.py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38988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'journal article' no longer short-circuits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7282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Meta-analysis tag wins over generic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066543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Tier 2 runs even after Tier 1 fires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4048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OpenAlex/EuropePMC/Crossref types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7432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Per-pattern confidence scores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081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Preprint detection added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611880"/>
            <a:ext cx="3749039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64845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journal_classifier.py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39959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50 → 200+ journals in curated 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79" y="43342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CrossRef OA field path fixed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467258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Jaccard word-overlap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" y="50109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Scientific Reports, ISME Journal added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3492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Persistent disk cache for CrossRef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56875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Predatory signal list expanded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361188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3611880"/>
            <a:ext cx="3749039" cy="3200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399" y="364845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evidence_extractor.py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9959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Priority hierarchy (n=X → verbs → nouns)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3342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Search count exclusion patterns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67258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Meta-analysis sample size correct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0109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Study confidence in first 2000 chars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3492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Non-English sample size patterns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6875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Accession type counting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3611880"/>
            <a:ext cx="3749039" cy="24688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0" y="3611880"/>
            <a:ext cx="3749039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3648456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quality_scorer.py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9959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Calibrated confidence scaling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3342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Protocol capped at 0.05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67258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Meta-analysis fixed at 0.22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50109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Sequencing method depth scored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53492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Granular data availability scoring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6875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Article type overrides study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Layer 2 Output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Enriched records feed directly into Layer 3 Knowledge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00" cy="539496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LAYER 2 DELIVERS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Article type (original/review/RCT/protocol)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Journal quartile Q1-Q4 + impact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18 entity categories extracted per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BioBERT novel entity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Section-aware entity tagging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Span source: title/abstract/methods/results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899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Accession numbers + data repositories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Study design + calibrated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Sample size (priority-ranked extraction)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Quality score 0.0–1.0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Full text stored separately (no JSON bloat)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Incremental — re-runs skip done papers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005840"/>
            <a:ext cx="5943600" cy="256032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0972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RUN COMMANDS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508760"/>
            <a:ext cx="5669280" cy="457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5453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Collect papers (500/source)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15453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$env:RUN_LAYER='1'; $env:MAX_PER_SOURCE='500'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057400"/>
            <a:ext cx="5669280" cy="457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0939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Train ML + calibrate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09397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$env:RUN_LAYER='train_filter'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606039"/>
            <a:ext cx="5669280" cy="457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64261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</a:rPr>
              <a:t>Run Layer 2 NLP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642615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$env:RUN_LAYER='2'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154679"/>
            <a:ext cx="5669280" cy="457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191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7DFF"/>
                </a:solidFill>
              </a:rPr>
              <a:t>Deduplicate batches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1912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F0F8"/>
                </a:solidFill>
              </a:rPr>
              <a:t>$env:RUN_LAYER='dedup_enriched'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703320"/>
            <a:ext cx="5943600" cy="274320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794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</a:rPr>
              <a:t>LAYER 3 RECEIVES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20624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enriched_batch_NNNN.json (batched)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553712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entities with section +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01183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relationships ready for KG edges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248656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quality scores for evidence ranking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596127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data availability for reproducibility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94360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study design for evidence hierarchy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Layer 2 complete → enriched_batch_*.json ready → Run: $env:RUN_LAYER='3';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